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D8792F-02DE-4645-AA13-30DF445D2629}">
  <a:tblStyle styleId="{85D8792F-02DE-4645-AA13-30DF445D26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e8c5bbd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e8c5bbd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803bcddf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803bcdd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e8c5bb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6e8c5bb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6e8c5bbd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6e8c5bbd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3eebd1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83eebd1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8803bcdd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8803bcdd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83eebd19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83eebd19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3eebd19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83eebd19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3eebd19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83eebd19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83eebd190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83eebd19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8803bcdd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8803bcd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803bcdd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803bcd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8803bcdd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8803bcdd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8803bcd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8803bcd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803bcdd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8803bcdd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6e8c5bbd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6e8c5bbd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5969f8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85969f8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803bcddf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8803bcddf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83eebd1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83eebd1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3eebd19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83eebd19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config.p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65650"/>
            <a:ext cx="8520600" cy="287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Multimodal Retrieval-Augmented Generation (mRAG) on MMDocIR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39650"/>
            <a:ext cx="8520600" cy="13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 sz="1400"/>
              <a:t>By: </a:t>
            </a:r>
            <a:r>
              <a:rPr lang="no" sz="1400"/>
              <a:t>Kiran Vågen, Gabriel Paulo Maglalang Israel, Oluwatobi Togun, Ørjan Rode Østlyngen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AI disclosure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AI was used, so we enforced strict consistency. Key guidelines: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Singe source of truth in </a:t>
            </a:r>
            <a:r>
              <a:rPr lang="no" u="sng">
                <a:solidFill>
                  <a:schemeClr val="hlink"/>
                </a:solidFill>
                <a:hlinkClick r:id="rId3"/>
              </a:rPr>
              <a:t>config.py</a:t>
            </a:r>
            <a:r>
              <a:rPr lang="no"/>
              <a:t> and inheritance from base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Domain based 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Keep code shallow (max ~5 indents)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Linting formatting, docstrings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Cache all steps for speed, with multiprocessing, threading, and logging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Tools &amp; Libraries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o"/>
              <a:t>Pdf Processor:</a:t>
            </a:r>
            <a:r>
              <a:rPr lang="no"/>
              <a:t> </a:t>
            </a:r>
            <a:r>
              <a:rPr lang="no"/>
              <a:t>Docling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o"/>
              <a:t>Vector Database:</a:t>
            </a:r>
            <a:r>
              <a:rPr lang="no"/>
              <a:t> Qdrant</a:t>
            </a:r>
            <a:r>
              <a:rPr lang="no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o"/>
              <a:t>Embedder:</a:t>
            </a:r>
            <a:r>
              <a:rPr lang="no"/>
              <a:t> </a:t>
            </a:r>
            <a:r>
              <a:rPr lang="no"/>
              <a:t>Jina Clip 2 (Text + Images)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o"/>
              <a:t>Exact Word </a:t>
            </a:r>
            <a:r>
              <a:rPr b="1" lang="no"/>
              <a:t>Matching</a:t>
            </a:r>
            <a:r>
              <a:rPr b="1" lang="no"/>
              <a:t>:</a:t>
            </a:r>
            <a:r>
              <a:rPr lang="no"/>
              <a:t> Bm25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o"/>
              <a:t>Agent Framework:</a:t>
            </a:r>
            <a:r>
              <a:rPr lang="no"/>
              <a:t> LangChain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o"/>
              <a:t>Agent ProcessFlow:</a:t>
            </a:r>
            <a:r>
              <a:rPr lang="no"/>
              <a:t> LangGraph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484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Preprocessing</a:t>
            </a:r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017725"/>
            <a:ext cx="4849800" cy="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500"/>
              <a:t>Unstructured (bad for semantic chunking)</a:t>
            </a:r>
            <a:endParaRPr sz="150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500"/>
              <a:t>Docling</a:t>
            </a:r>
            <a:endParaRPr sz="150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500"/>
              <a:t>Key problem: capping chunk sizes so the embedder doesnt crash</a:t>
            </a:r>
            <a:endParaRPr sz="1500"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5179" r="30242" t="0"/>
          <a:stretch/>
        </p:blipFill>
        <p:spPr>
          <a:xfrm>
            <a:off x="2380000" y="2729780"/>
            <a:ext cx="2781500" cy="979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5922" y="0"/>
            <a:ext cx="398807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5" y="3699171"/>
            <a:ext cx="212407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0000" y="4003607"/>
            <a:ext cx="2781500" cy="11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ase overview.png"/>
          <p:cNvPicPr preferRelativeResize="0"/>
          <p:nvPr/>
        </p:nvPicPr>
        <p:blipFill rotWithShape="1">
          <a:blip r:embed="rId3">
            <a:alphaModFix/>
          </a:blip>
          <a:srcRect b="0" l="12369" r="9094" t="0"/>
          <a:stretch/>
        </p:blipFill>
        <p:spPr>
          <a:xfrm>
            <a:off x="3522143" y="64825"/>
            <a:ext cx="3151549" cy="50139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1. Baseline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6232" y="1017725"/>
            <a:ext cx="3516300" cy="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o"/>
              <a:t>All pipeline process flow run </a:t>
            </a:r>
            <a:r>
              <a:rPr lang="no"/>
              <a:t>through a single function.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625" y="0"/>
            <a:ext cx="2857383" cy="38209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625" y="3813225"/>
            <a:ext cx="2857375" cy="13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Advanced</a:t>
            </a:r>
            <a:endParaRPr/>
          </a:p>
        </p:txBody>
      </p:sp>
      <p:pic>
        <p:nvPicPr>
          <p:cNvPr id="92" name="Google Shape;92;p18" title="Advanced flow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25" y="960800"/>
            <a:ext cx="4687549" cy="38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5693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Multimodal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5226000" cy="17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Same latent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Visual Classification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Retrieval Allocation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Document Filtered Image Retrieval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Score Preserving Fusion</a:t>
            </a:r>
            <a:endParaRPr/>
          </a:p>
        </p:txBody>
      </p:sp>
      <p:pic>
        <p:nvPicPr>
          <p:cNvPr id="99" name="Google Shape;99;p19" title="ChatGPT Image Apr 22, 2026, 09_00_4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245" y="112347"/>
            <a:ext cx="3278774" cy="4918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Ablations time (first run - not cached)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3808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6815850" y="1335050"/>
            <a:ext cx="1022700" cy="363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o">
                <a:solidFill>
                  <a:schemeClr val="lt1"/>
                </a:solidFill>
              </a:rPr>
              <a:t>Bottleneck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74" y="1062575"/>
            <a:ext cx="8183519" cy="351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Ablations Metrics (Initial results)</a:t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480424" y="4171799"/>
            <a:ext cx="8183400" cy="366900"/>
          </a:xfrm>
          <a:prstGeom prst="rect">
            <a:avLst/>
          </a:prstGeom>
          <a:noFill/>
          <a:ln cap="flat" cmpd="sng" w="181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2">
              <a:solidFill>
                <a:schemeClr val="accent1"/>
              </a:solidFill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480234" y="2284156"/>
            <a:ext cx="8183400" cy="459900"/>
          </a:xfrm>
          <a:prstGeom prst="rect">
            <a:avLst/>
          </a:prstGeom>
          <a:noFill/>
          <a:ln cap="flat" cmpd="sng" w="181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2">
              <a:solidFill>
                <a:schemeClr val="accent1"/>
              </a:solidFill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80234" y="1483431"/>
            <a:ext cx="8183400" cy="182700"/>
          </a:xfrm>
          <a:prstGeom prst="rect">
            <a:avLst/>
          </a:prstGeom>
          <a:noFill/>
          <a:ln cap="flat" cmpd="sng" w="181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000" lIns="87000" spcFirstLastPara="1" rIns="87000" wrap="square" tIns="8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2">
              <a:solidFill>
                <a:schemeClr val="accent1"/>
              </a:solidFill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96125" y="4538700"/>
            <a:ext cx="83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800"/>
              <a:t>We decided to keep using multimodal(image) as the default for system 2. 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Combining strategies (Incremental optimization)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on token_f1 score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47" y="1421200"/>
            <a:ext cx="5985401" cy="271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6073250" y="1421225"/>
            <a:ext cx="3070800" cy="27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400"/>
              <a:t>Using iterative optimization, selecting the best variant of each component at every step and carrying it forward into the next stage.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400"/>
              <a:t>Step 1. </a:t>
            </a:r>
            <a:r>
              <a:rPr lang="no" sz="1400"/>
              <a:t>Chunking_strategy: Sliding window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400"/>
              <a:t>Step 2. Query technique: rag_fusion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400"/>
              <a:t>Step 3.prompting strategy: standard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400"/>
              <a:t>token_f1 score didnt do that well with this method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223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Chunking Strategies </a:t>
            </a:r>
            <a:r>
              <a:rPr lang="no"/>
              <a:t>Generation Metrics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6069823" y="3315076"/>
            <a:ext cx="3036300" cy="13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o"/>
              <a:t>Best Generation Metric: </a:t>
            </a:r>
            <a:r>
              <a:rPr lang="no"/>
              <a:t>Fixed-Size Chunking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no"/>
              <a:t>Reason:</a:t>
            </a:r>
            <a:r>
              <a:rPr lang="no"/>
              <a:t> Large enough chunk length to include all necessary information</a:t>
            </a:r>
            <a:r>
              <a:rPr lang="no"/>
              <a:t> </a:t>
            </a:r>
            <a:r>
              <a:rPr lang="no"/>
              <a:t>than other strategies</a:t>
            </a:r>
            <a:endParaRPr/>
          </a:p>
        </p:txBody>
      </p:sp>
      <p:pic>
        <p:nvPicPr>
          <p:cNvPr id="130" name="Google Shape;130;p23" title="f1_chunk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987" y="3008926"/>
            <a:ext cx="2379950" cy="1792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 title="Rouge-L-chunk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1199" y="1125661"/>
            <a:ext cx="2371528" cy="178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Sematic-similarity-chunk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00" y="1124250"/>
            <a:ext cx="2371507" cy="178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exact-match-chunki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90" y="3013528"/>
            <a:ext cx="2371508" cy="17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7811" y="724287"/>
            <a:ext cx="2598465" cy="25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254025" y="297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no"/>
              <a:t>System 2. Chunking Strategies Retrieval Metrics</a:t>
            </a:r>
            <a:endParaRPr/>
          </a:p>
        </p:txBody>
      </p:sp>
      <p:graphicFrame>
        <p:nvGraphicFramePr>
          <p:cNvPr id="140" name="Google Shape;140;p24"/>
          <p:cNvGraphicFramePr/>
          <p:nvPr/>
        </p:nvGraphicFramePr>
        <p:xfrm>
          <a:off x="254025" y="925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{85D8792F-02DE-4645-AA13-30DF445D2629}</a:tableStyleId>
              </a:tblPr>
              <a:tblGrid>
                <a:gridCol w="1425350"/>
                <a:gridCol w="779000"/>
                <a:gridCol w="763675"/>
                <a:gridCol w="751850"/>
                <a:gridCol w="931825"/>
                <a:gridCol w="916850"/>
                <a:gridCol w="909325"/>
                <a:gridCol w="789375"/>
                <a:gridCol w="744375"/>
                <a:gridCol w="781850"/>
              </a:tblGrid>
              <a:tr h="79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Chunking strategy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P@1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P@3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P@5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R@1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R@3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R@5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NDCG@1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MAP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MRR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8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Fixed-size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0.300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0.1827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0.8733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0.8733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Semantic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0.2978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0.8933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0.8813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0.8813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Hierarchical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0.3044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0.1027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0.8878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0.8878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9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Sliding Window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0.3022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0.1827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0.8333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0.9067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0.8333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0.8680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9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>
                          <a:solidFill>
                            <a:schemeClr val="dk1"/>
                          </a:solidFill>
                        </a:rPr>
                        <a:t>Enhanced Hierarchical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0.7133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0.2933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0.7133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0.8800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0.9000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0.7133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0.7983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0.7983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Query Processing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230525" y="1159850"/>
            <a:ext cx="3011700" cy="37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no">
                <a:solidFill>
                  <a:srgbClr val="000000"/>
                </a:solidFill>
              </a:rPr>
              <a:t>👑</a:t>
            </a:r>
            <a:r>
              <a:rPr lang="no">
                <a:solidFill>
                  <a:srgbClr val="000000"/>
                </a:solidFill>
              </a:rPr>
              <a:t>Standard👑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Multi-Query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RAG-Fusion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Step-Back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HyDe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Query-Expansion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Query-Rewriting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Query-Decomposition</a:t>
            </a:r>
            <a:endParaRPr/>
          </a:p>
        </p:txBody>
      </p:sp>
      <p:graphicFrame>
        <p:nvGraphicFramePr>
          <p:cNvPr id="147" name="Google Shape;147;p25"/>
          <p:cNvGraphicFramePr/>
          <p:nvPr/>
        </p:nvGraphicFramePr>
        <p:xfrm>
          <a:off x="3299200" y="115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{85D8792F-02DE-4645-AA13-30DF445D2629}</a:tableStyleId>
              </a:tblPr>
              <a:tblGrid>
                <a:gridCol w="1410525"/>
                <a:gridCol w="864600"/>
                <a:gridCol w="650750"/>
                <a:gridCol w="906400"/>
                <a:gridCol w="891650"/>
                <a:gridCol w="1024500"/>
              </a:tblGrid>
              <a:tr h="6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Query Techique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Precision@1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Recall@1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Token F1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Exact Match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Semantic Similarity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Standard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38761D"/>
                          </a:solidFill>
                        </a:rPr>
                        <a:t>0.847</a:t>
                      </a:r>
                      <a:endParaRPr sz="13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38761D"/>
                          </a:solidFill>
                        </a:rPr>
                        <a:t>0.847</a:t>
                      </a:r>
                      <a:endParaRPr sz="13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38761D"/>
                          </a:solidFill>
                        </a:rPr>
                        <a:t>0.268</a:t>
                      </a:r>
                      <a:endParaRPr sz="13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38761D"/>
                          </a:solidFill>
                        </a:rPr>
                        <a:t>0.200</a:t>
                      </a:r>
                      <a:endParaRPr sz="13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38761D"/>
                          </a:solidFill>
                        </a:rPr>
                        <a:t>0.738</a:t>
                      </a:r>
                      <a:endParaRPr sz="13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Step-Back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0.253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0.187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0.723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Multi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0.793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0.793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0.251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0.187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0.724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Rag-Fusion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0.687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0.687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0.230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0.173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FF0000"/>
                          </a:solidFill>
                        </a:rPr>
                        <a:t>0.698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HyDe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FF0000"/>
                          </a:solidFill>
                        </a:rPr>
                        <a:t>0.653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FF0000"/>
                          </a:solidFill>
                        </a:rPr>
                        <a:t>0.653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FF0000"/>
                          </a:solidFill>
                        </a:rPr>
                        <a:t>0.190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>
                          <a:solidFill>
                            <a:srgbClr val="FF0000"/>
                          </a:solidFill>
                        </a:rPr>
                        <a:t>0.133</a:t>
                      </a:r>
                      <a:endParaRPr sz="13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0.700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Expansion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0.780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0.780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0.227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0.147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0.700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Rewriting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0.833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0.833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0.227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0.173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0.700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/>
                        <a:t>Decomposition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0.700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0.244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0.167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 sz="1300"/>
                        <a:t>0.714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no"/>
              <a:t>System 2. Query Processing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Model: 8b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Worse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L</a:t>
            </a:r>
            <a:r>
              <a:rPr lang="no"/>
              <a:t>ose </a:t>
            </a:r>
            <a:r>
              <a:rPr lang="no"/>
              <a:t>Semantic</a:t>
            </a:r>
            <a:r>
              <a:rPr lang="no"/>
              <a:t>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HyDe Suffer Greatly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o"/>
              <a:t>Ensemble not good for RAG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2. Prompt Strategy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82950" y="1186025"/>
            <a:ext cx="3563400" cy="33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Standard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👑</a:t>
            </a:r>
            <a:r>
              <a:rPr lang="no"/>
              <a:t>Chain Of Thought (CoT)👑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Few-Shot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Role (Rag specialist)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/>
              <a:t>Why: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Reasoning Questions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Model: 8b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Bad examples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no"/>
              <a:t>No good role for all</a:t>
            </a:r>
            <a:endParaRPr/>
          </a:p>
        </p:txBody>
      </p:sp>
      <p:graphicFrame>
        <p:nvGraphicFramePr>
          <p:cNvPr id="160" name="Google Shape;160;p27"/>
          <p:cNvGraphicFramePr/>
          <p:nvPr/>
        </p:nvGraphicFramePr>
        <p:xfrm>
          <a:off x="3686250" y="118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{85D8792F-02DE-4645-AA13-30DF445D2629}</a:tableStyleId>
              </a:tblPr>
              <a:tblGrid>
                <a:gridCol w="1045750"/>
                <a:gridCol w="961350"/>
                <a:gridCol w="746350"/>
                <a:gridCol w="882400"/>
                <a:gridCol w="765050"/>
                <a:gridCol w="951800"/>
              </a:tblGrid>
              <a:tr h="66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 sz="1300">
                          <a:solidFill>
                            <a:schemeClr val="dk1"/>
                          </a:solidFill>
                        </a:rPr>
                        <a:t>Query Techique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 sz="1300">
                          <a:solidFill>
                            <a:schemeClr val="dk1"/>
                          </a:solidFill>
                        </a:rPr>
                        <a:t>Token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/>
                        <a:t>BLEU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 sz="1300">
                          <a:solidFill>
                            <a:schemeClr val="dk1"/>
                          </a:solidFill>
                        </a:rPr>
                        <a:t>ROUGE1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 sz="1300">
                          <a:solidFill>
                            <a:schemeClr val="dk1"/>
                          </a:solidFill>
                        </a:rPr>
                        <a:t>Exact Match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no" sz="1300">
                          <a:solidFill>
                            <a:schemeClr val="dk1"/>
                          </a:solidFill>
                        </a:rPr>
                        <a:t>Semantic Similarity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Standard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0.2681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0.2325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0.2913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0.7377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CoT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0.2858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0.2492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0.3062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0.2267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0.6988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Few-Shot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0.1752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0.1330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0.1830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0.1133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0.6051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Role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0.1342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0.0915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0.1459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0.1000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0.5917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1" name="Google Shape;161;p27"/>
          <p:cNvSpPr txBox="1"/>
          <p:nvPr/>
        </p:nvSpPr>
        <p:spPr>
          <a:xfrm>
            <a:off x="0" y="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300">
                <a:solidFill>
                  <a:schemeClr val="dk1"/>
                </a:solidFill>
              </a:rPr>
              <a:t>Semantic Similarity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no"/>
              <a:t>System 2. Combining strategies (Intuitive combination)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7" name="Google Shape;167;p28"/>
          <p:cNvGraphicFramePr/>
          <p:nvPr/>
        </p:nvGraphicFramePr>
        <p:xfrm>
          <a:off x="1011525" y="111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{85D8792F-02DE-4645-AA13-30DF445D2629}</a:tableStyleId>
              </a:tblPr>
              <a:tblGrid>
                <a:gridCol w="1076325"/>
                <a:gridCol w="876650"/>
                <a:gridCol w="1276000"/>
                <a:gridCol w="1268200"/>
                <a:gridCol w="1054175"/>
                <a:gridCol w="906600"/>
                <a:gridCol w="107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Chunk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Prompt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Query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Precision@1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Recall@1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Exact Match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Token F1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Enhanced Hier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Rag-Fusion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0.6470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0.2130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0.2670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Semantic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Rag-Fusion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0.2130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0.2630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Semantic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HyDe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0.6733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0.6730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0.1800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0.2282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Fixed-size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Rag-Fusion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0.6467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0.2067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0.2599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Fixed-Size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HyDe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0.6733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0.6733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0.1800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FF0000"/>
                          </a:solidFill>
                        </a:rPr>
                        <a:t>0.2187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Fixed-Size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Standard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0.8467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0.8467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0.2267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0.2858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3. Agentic mRAG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180925" y="1178625"/>
            <a:ext cx="536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600"/>
              <a:t>Three Agents: </a:t>
            </a:r>
            <a:endParaRPr sz="1600"/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no"/>
              <a:t>Query Rewriter</a:t>
            </a:r>
            <a:endParaRPr b="1"/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no"/>
              <a:t>Grader</a:t>
            </a:r>
            <a:endParaRPr b="1"/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no"/>
              <a:t>Generator</a:t>
            </a:r>
            <a:endParaRPr b="1"/>
          </a:p>
          <a:p>
            <a:pPr indent="-30241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500"/>
              <a:t>LLM-based decision making</a:t>
            </a:r>
            <a:endParaRPr sz="1500"/>
          </a:p>
          <a:p>
            <a:pPr indent="-307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no" sz="1600"/>
              <a:t>LangChain, LangGraph (StateGraph)</a:t>
            </a:r>
            <a:endParaRPr b="1" sz="1600"/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/>
              <a:t>For control flow, state management and orchestration</a:t>
            </a:r>
            <a:endParaRPr/>
          </a:p>
          <a:p>
            <a:pPr indent="-307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600"/>
              <a:t>Confidence-based retry-mechanism</a:t>
            </a:r>
            <a:endParaRPr sz="1600"/>
          </a:p>
          <a:p>
            <a:pPr indent="-307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600"/>
              <a:t>Structured Agent Outputs (</a:t>
            </a:r>
            <a:r>
              <a:rPr b="1" lang="no" sz="1600"/>
              <a:t>Pydantic</a:t>
            </a:r>
            <a:r>
              <a:rPr lang="no" sz="1600"/>
              <a:t> models/schemas)</a:t>
            </a:r>
            <a:endParaRPr sz="1600"/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/>
              <a:t>Capture reasoning, confidence and choices/decisions</a:t>
            </a:r>
            <a:endParaRPr/>
          </a:p>
          <a:p>
            <a:pPr indent="-307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 sz="1600"/>
              <a:t>Complete Decision Audit Trail </a:t>
            </a:r>
            <a:endParaRPr sz="1600"/>
          </a:p>
          <a:p>
            <a:pPr indent="-297498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no"/>
              <a:t>State accumulates all agent reasoning for potential auditing purposes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74" name="Google Shape;174;p29" title="agentic 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330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System 3. Agentic mRAG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180925" y="1178625"/>
            <a:ext cx="426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no" sz="1100"/>
              <a:t>Retrieval dominance:</a:t>
            </a:r>
            <a:r>
              <a:rPr lang="no" sz="1100"/>
              <a:t> System 2 retrieves the correct document in 91.3% of cases (top-5) vs. System 3's 66.7% — </a:t>
            </a:r>
            <a:r>
              <a:rPr b="1" lang="no" sz="1100"/>
              <a:t>System 3 fails entirely 1 in 3 times</a:t>
            </a:r>
            <a:r>
              <a:rPr lang="no" sz="1100"/>
              <a:t>; maybe root cause of downstream failures</a:t>
            </a:r>
            <a:endParaRPr sz="11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no" sz="1100"/>
              <a:t>Document ranking quality:</a:t>
            </a:r>
            <a:r>
              <a:rPr lang="no" sz="1100"/>
              <a:t> System 2's MAP/MRR of 0.873 vs. System 3's 0.598 means System 2 surfaces the correct document ~50% faster (avg rank 1.15 vs. 1.67).</a:t>
            </a:r>
            <a:endParaRPr sz="11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no" sz="1100"/>
              <a:t>Generation quality gap:</a:t>
            </a:r>
            <a:r>
              <a:rPr lang="no" sz="1100"/>
              <a:t> System 2 achieves </a:t>
            </a:r>
            <a:r>
              <a:rPr b="1" lang="no" sz="1100"/>
              <a:t>double the lexical overlap</a:t>
            </a:r>
            <a:r>
              <a:rPr lang="no" sz="1100"/>
              <a:t> (Token F1 0.286 vs 0.145) and produces perfect matches </a:t>
            </a:r>
            <a:r>
              <a:rPr b="1" lang="no" sz="1100"/>
              <a:t>twice as often</a:t>
            </a:r>
            <a:r>
              <a:rPr lang="no" sz="1100"/>
              <a:t> (22.7% vs 10.7%).</a:t>
            </a:r>
            <a:endParaRPr sz="11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no" sz="1100">
                <a:highlight>
                  <a:schemeClr val="accent6"/>
                </a:highlight>
              </a:rPr>
              <a:t>Cascading errors:</a:t>
            </a:r>
            <a:r>
              <a:rPr lang="no" sz="1100">
                <a:highlight>
                  <a:schemeClr val="accent6"/>
                </a:highlight>
              </a:rPr>
              <a:t> Bad query rewriting →  poor retrieval → garbage context for generation. System 2's </a:t>
            </a:r>
            <a:r>
              <a:rPr i="1" lang="no" sz="1100">
                <a:highlight>
                  <a:schemeClr val="accent6"/>
                </a:highlight>
              </a:rPr>
              <a:t>fixed </a:t>
            </a:r>
            <a:r>
              <a:rPr lang="no" sz="1100">
                <a:highlight>
                  <a:schemeClr val="accent6"/>
                </a:highlight>
              </a:rPr>
              <a:t>pipeline avoids this error cascade entirely.</a:t>
            </a:r>
            <a:endParaRPr sz="1600">
              <a:highlight>
                <a:schemeClr val="accent6"/>
              </a:highlight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650" y="227614"/>
            <a:ext cx="4267439" cy="46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5600" y="1242100"/>
            <a:ext cx="2049500" cy="36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5600" y="227625"/>
            <a:ext cx="2049500" cy="10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/>
          <p:nvPr/>
        </p:nvSpPr>
        <p:spPr>
          <a:xfrm>
            <a:off x="6935575" y="944800"/>
            <a:ext cx="2049600" cy="29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o"/>
              <a:t>System 2</a:t>
            </a:r>
            <a:endParaRPr b="1"/>
          </a:p>
        </p:txBody>
      </p:sp>
      <p:sp>
        <p:nvSpPr>
          <p:cNvPr id="185" name="Google Shape;185;p30"/>
          <p:cNvSpPr/>
          <p:nvPr/>
        </p:nvSpPr>
        <p:spPr>
          <a:xfrm>
            <a:off x="4717650" y="944800"/>
            <a:ext cx="2226900" cy="29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no"/>
              <a:t>System 3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Final conclusion</a:t>
            </a:r>
            <a:endParaRPr/>
          </a:p>
        </p:txBody>
      </p:sp>
      <p:graphicFrame>
        <p:nvGraphicFramePr>
          <p:cNvPr id="191" name="Google Shape;191;p31"/>
          <p:cNvGraphicFramePr/>
          <p:nvPr/>
        </p:nvGraphicFramePr>
        <p:xfrm>
          <a:off x="304463" y="193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{85D8792F-02DE-4645-AA13-30DF445D2629}</a:tableStyleId>
              </a:tblPr>
              <a:tblGrid>
                <a:gridCol w="922575"/>
                <a:gridCol w="1096525"/>
                <a:gridCol w="943375"/>
                <a:gridCol w="1149750"/>
                <a:gridCol w="1444875"/>
                <a:gridCol w="1006925"/>
                <a:gridCol w="832550"/>
                <a:gridCol w="1138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System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Chunk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Prompt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Query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Precision@1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Recall@1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Exact Match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o"/>
                        <a:t>Token F1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Fixed-Size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Standard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Standard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0.5200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0.5200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0.1200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0.1593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Fixed-Size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CoT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Standard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0.8467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0.8467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0.2267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rgbClr val="38761D"/>
                          </a:solidFill>
                        </a:rPr>
                        <a:t>0.2858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Semantic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LLM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/>
                        <a:t>LLM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0.5466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0.5466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0.1067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o">
                          <a:solidFill>
                            <a:schemeClr val="dk1"/>
                          </a:solidFill>
                        </a:rPr>
                        <a:t>0.1451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General adoptions and lessons learnt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11700" y="1152475"/>
            <a:ext cx="8671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Programming: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Single source of truth through config and inheritance solves a lot of bug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Caching all results incrementally is key for speed and motivation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Going back to redefine preprocessing multiple times is very important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Docling</a:t>
            </a:r>
            <a:r>
              <a:rPr lang="no"/>
              <a:t> &gt; Unstructured &gt; pdfplumber for pdf preprocessing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A combination of intuition rather than a programmatic approach can be </a:t>
            </a:r>
            <a:r>
              <a:rPr lang="no"/>
              <a:t>better when deciding on combination of strategies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What is missing / Improvements</a:t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Given more time we would have: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Followed the Strategy pattern for improved modularity, using a single mRAG class that accepts initialized components as inputs.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no"/>
              <a:t>Considered combined the strategies in all possible combinations to optimize a weighting of different metrics (precision, f1_score, ..)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